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Proxima Nova"/>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roximaNova-bold.fntdata"/><Relationship Id="rId12" Type="http://schemas.openxmlformats.org/officeDocument/2006/relationships/font" Target="fonts/ProximaNova-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ProximaNova-boldItalic.fntdata"/><Relationship Id="rId14"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bab3a369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bab3a369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https://towardsdatascience.com/stochastic-gradient-descent-clearly-explained-53d239905d31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d2e0a5069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d2e0a5069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https://towardsdatascience.com/stochastic-gradient-descent-clearly-explained-53d239905d31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d2e0a5069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d2e0a5069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https://towardsdatascience.com/stochastic-gradient-descent-clearly-explained-53d239905d31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d2e0a5069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d2e0a5069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https://towardsdatascience.com/stochastic-gradient-descent-clearly-explained-53d239905d31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61" name="Google Shape;61;p15"/>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0" name="Shape 80"/>
        <p:cNvGrpSpPr/>
        <p:nvPr/>
      </p:nvGrpSpPr>
      <p:grpSpPr>
        <a:xfrm>
          <a:off x="0" y="0"/>
          <a:ext cx="0" cy="0"/>
          <a:chOff x="0" y="0"/>
          <a:chExt cx="0" cy="0"/>
        </a:xfrm>
      </p:grpSpPr>
      <p:sp>
        <p:nvSpPr>
          <p:cNvPr id="81" name="Google Shape;81;p20"/>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21"/>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86" name="Google Shape;86;p21"/>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7" name="Google Shape;87;p21"/>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8" name="Google Shape;88;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Proxima Nova"/>
                <a:ea typeface="Proxima Nova"/>
                <a:cs typeface="Proxima Nova"/>
                <a:sym typeface="Proxima Nova"/>
              </a:defRPr>
            </a:lvl1pPr>
            <a:lvl2pPr lvl="1" rtl="0" algn="r">
              <a:buNone/>
              <a:defRPr sz="1000">
                <a:solidFill>
                  <a:schemeClr val="dk1"/>
                </a:solidFill>
                <a:latin typeface="Proxima Nova"/>
                <a:ea typeface="Proxima Nova"/>
                <a:cs typeface="Proxima Nova"/>
                <a:sym typeface="Proxima Nova"/>
              </a:defRPr>
            </a:lvl2pPr>
            <a:lvl3pPr lvl="2" rtl="0" algn="r">
              <a:buNone/>
              <a:defRPr sz="1000">
                <a:solidFill>
                  <a:schemeClr val="dk1"/>
                </a:solidFill>
                <a:latin typeface="Proxima Nova"/>
                <a:ea typeface="Proxima Nova"/>
                <a:cs typeface="Proxima Nova"/>
                <a:sym typeface="Proxima Nova"/>
              </a:defRPr>
            </a:lvl3pPr>
            <a:lvl4pPr lvl="3" rtl="0" algn="r">
              <a:buNone/>
              <a:defRPr sz="1000">
                <a:solidFill>
                  <a:schemeClr val="dk1"/>
                </a:solidFill>
                <a:latin typeface="Proxima Nova"/>
                <a:ea typeface="Proxima Nova"/>
                <a:cs typeface="Proxima Nova"/>
                <a:sym typeface="Proxima Nova"/>
              </a:defRPr>
            </a:lvl4pPr>
            <a:lvl5pPr lvl="4" rtl="0" algn="r">
              <a:buNone/>
              <a:defRPr sz="1000">
                <a:solidFill>
                  <a:schemeClr val="dk1"/>
                </a:solidFill>
                <a:latin typeface="Proxima Nova"/>
                <a:ea typeface="Proxima Nova"/>
                <a:cs typeface="Proxima Nova"/>
                <a:sym typeface="Proxima Nova"/>
              </a:defRPr>
            </a:lvl5pPr>
            <a:lvl6pPr lvl="5" rtl="0" algn="r">
              <a:buNone/>
              <a:defRPr sz="1000">
                <a:solidFill>
                  <a:schemeClr val="dk1"/>
                </a:solidFill>
                <a:latin typeface="Proxima Nova"/>
                <a:ea typeface="Proxima Nova"/>
                <a:cs typeface="Proxima Nova"/>
                <a:sym typeface="Proxima Nova"/>
              </a:defRPr>
            </a:lvl6pPr>
            <a:lvl7pPr lvl="6" rtl="0" algn="r">
              <a:buNone/>
              <a:defRPr sz="1000">
                <a:solidFill>
                  <a:schemeClr val="dk1"/>
                </a:solidFill>
                <a:latin typeface="Proxima Nova"/>
                <a:ea typeface="Proxima Nova"/>
                <a:cs typeface="Proxima Nova"/>
                <a:sym typeface="Proxima Nova"/>
              </a:defRPr>
            </a:lvl7pPr>
            <a:lvl8pPr lvl="7" rtl="0" algn="r">
              <a:buNone/>
              <a:defRPr sz="1000">
                <a:solidFill>
                  <a:schemeClr val="dk1"/>
                </a:solidFill>
                <a:latin typeface="Proxima Nova"/>
                <a:ea typeface="Proxima Nova"/>
                <a:cs typeface="Proxima Nova"/>
                <a:sym typeface="Proxima Nova"/>
              </a:defRPr>
            </a:lvl8pPr>
            <a:lvl9pPr lvl="8" rtl="0"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hyperlink" Target="https://drive.google.com/file/d/1Z55QNDTaE3HkCQhoEkCeltenznm6_D4H/vie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White cloud in front of dark blue star-filled sky" id="104" name="Google Shape;104;p25"/>
          <p:cNvPicPr preferRelativeResize="0"/>
          <p:nvPr/>
        </p:nvPicPr>
        <p:blipFill rotWithShape="1">
          <a:blip r:embed="rId3">
            <a:alphaModFix/>
          </a:blip>
          <a:srcRect b="17068" l="0" r="1720" t="0"/>
          <a:stretch/>
        </p:blipFill>
        <p:spPr>
          <a:xfrm>
            <a:off x="0" y="0"/>
            <a:ext cx="9144001" cy="5143500"/>
          </a:xfrm>
          <a:prstGeom prst="rect">
            <a:avLst/>
          </a:prstGeom>
          <a:noFill/>
          <a:ln>
            <a:noFill/>
          </a:ln>
        </p:spPr>
      </p:pic>
      <p:sp>
        <p:nvSpPr>
          <p:cNvPr id="105" name="Google Shape;105;p25"/>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200"/>
              <a:t>Chương 6</a:t>
            </a:r>
            <a:endParaRPr sz="5200"/>
          </a:p>
          <a:p>
            <a:pPr indent="0" lvl="0" marL="0" rtl="0" algn="ctr">
              <a:spcBef>
                <a:spcPts val="0"/>
              </a:spcBef>
              <a:spcAft>
                <a:spcPts val="0"/>
              </a:spcAft>
              <a:buNone/>
            </a:pPr>
            <a:r>
              <a:rPr lang="en" sz="5200"/>
              <a:t>Logistic regression (2)</a:t>
            </a:r>
            <a:endParaRPr sz="5200"/>
          </a:p>
        </p:txBody>
      </p:sp>
      <p:sp>
        <p:nvSpPr>
          <p:cNvPr id="106" name="Google Shape;106;p25"/>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TS Phạm Tuấn</a:t>
            </a:r>
            <a:endParaRPr/>
          </a:p>
        </p:txBody>
      </p:sp>
      <p:sp>
        <p:nvSpPr>
          <p:cNvPr id="107" name="Google Shape;107;p25"/>
          <p:cNvSpPr txBox="1"/>
          <p:nvPr>
            <p:ph idx="1" type="subTitle"/>
          </p:nvPr>
        </p:nvSpPr>
        <p:spPr>
          <a:xfrm>
            <a:off x="510450" y="4370773"/>
            <a:ext cx="8123100" cy="50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ptuan@ute.udn.vn</a:t>
            </a:r>
            <a:endParaRPr sz="1800"/>
          </a:p>
        </p:txBody>
      </p:sp>
      <p:cxnSp>
        <p:nvCxnSpPr>
          <p:cNvPr id="108" name="Google Shape;108;p25"/>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Yếu điểm của Gradient Descent</a:t>
            </a:r>
            <a:endParaRPr sz="2400"/>
          </a:p>
        </p:txBody>
      </p:sp>
      <p:sp>
        <p:nvSpPr>
          <p:cNvPr id="114" name="Google Shape;114;p26"/>
          <p:cNvSpPr txBox="1"/>
          <p:nvPr>
            <p:ph idx="1" type="body"/>
          </p:nvPr>
        </p:nvSpPr>
        <p:spPr>
          <a:xfrm>
            <a:off x="311700" y="2304800"/>
            <a:ext cx="8520600" cy="21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Ở hình trên là hàm đạo hàm của Hồi quy tuyến tính, hàm đạo hàm đó chứa 2 phép tính chính là tổng và nhân. Do đó:</a:t>
            </a:r>
            <a:endParaRPr sz="1400"/>
          </a:p>
          <a:p>
            <a:pPr indent="-317500" lvl="0" marL="457200" rtl="0" algn="l">
              <a:spcBef>
                <a:spcPts val="1600"/>
              </a:spcBef>
              <a:spcAft>
                <a:spcPts val="0"/>
              </a:spcAft>
              <a:buSzPts val="1400"/>
              <a:buAutoNum type="arabicPeriod"/>
            </a:pPr>
            <a:r>
              <a:rPr lang="en" sz="1400"/>
              <a:t>Giá trị đạo hàm sẽ càng </a:t>
            </a:r>
            <a:r>
              <a:rPr b="1" lang="en" sz="1400">
                <a:solidFill>
                  <a:srgbClr val="980000"/>
                </a:solidFill>
              </a:rPr>
              <a:t>lớn</a:t>
            </a:r>
            <a:r>
              <a:rPr lang="en" sz="1400"/>
              <a:t> nếu điểm dữ liệu càng </a:t>
            </a:r>
            <a:r>
              <a:rPr b="1" lang="en" sz="1400">
                <a:solidFill>
                  <a:srgbClr val="980000"/>
                </a:solidFill>
              </a:rPr>
              <a:t>nhiều</a:t>
            </a:r>
            <a:r>
              <a:rPr lang="en" sz="1400"/>
              <a:t>.</a:t>
            </a:r>
            <a:endParaRPr sz="1400"/>
          </a:p>
          <a:p>
            <a:pPr indent="-317500" lvl="0" marL="457200" rtl="0" algn="l">
              <a:spcBef>
                <a:spcPts val="0"/>
              </a:spcBef>
              <a:spcAft>
                <a:spcPts val="0"/>
              </a:spcAft>
              <a:buSzPts val="1400"/>
              <a:buAutoNum type="arabicPeriod"/>
            </a:pPr>
            <a:r>
              <a:rPr lang="en" sz="1400"/>
              <a:t>Thời gian tính toán sẽ </a:t>
            </a:r>
            <a:r>
              <a:rPr b="1" lang="en" sz="1400">
                <a:solidFill>
                  <a:srgbClr val="980000"/>
                </a:solidFill>
              </a:rPr>
              <a:t>lâu</a:t>
            </a:r>
            <a:r>
              <a:rPr lang="en" sz="1400"/>
              <a:t> </a:t>
            </a:r>
            <a:r>
              <a:rPr lang="en" sz="1400"/>
              <a:t>nếu điểm dữ liệu càng </a:t>
            </a:r>
            <a:r>
              <a:rPr b="1" lang="en" sz="1400">
                <a:solidFill>
                  <a:srgbClr val="980000"/>
                </a:solidFill>
              </a:rPr>
              <a:t>nhiều</a:t>
            </a:r>
            <a:r>
              <a:rPr lang="en" sz="1400"/>
              <a:t>.</a:t>
            </a:r>
            <a:endParaRPr sz="1400"/>
          </a:p>
          <a:p>
            <a:pPr indent="0" lvl="0" marL="0" rtl="0" algn="l">
              <a:spcBef>
                <a:spcPts val="1600"/>
              </a:spcBef>
              <a:spcAft>
                <a:spcPts val="0"/>
              </a:spcAft>
              <a:buNone/>
            </a:pPr>
            <a:r>
              <a:rPr lang="en" sz="1400"/>
              <a:t>Với 2 nhược điểm trên, và chúng ta sẽ chạy thuật toán qua nhiều vòng lặp sẽ làm cho quá trình tìm điểm hội tụ càng lâu và nặng nề.</a:t>
            </a:r>
            <a:endParaRPr sz="1400"/>
          </a:p>
          <a:p>
            <a:pPr indent="0" lvl="0" marL="0" rtl="0" algn="l">
              <a:spcBef>
                <a:spcPts val="1600"/>
              </a:spcBef>
              <a:spcAft>
                <a:spcPts val="1600"/>
              </a:spcAft>
              <a:buNone/>
            </a:pPr>
            <a:r>
              <a:t/>
            </a:r>
            <a:endParaRPr sz="1400"/>
          </a:p>
        </p:txBody>
      </p:sp>
      <p:sp>
        <p:nvSpPr>
          <p:cNvPr id="115" name="Google Shape;115;p26"/>
          <p:cNvSpPr txBox="1"/>
          <p:nvPr/>
        </p:nvSpPr>
        <p:spPr>
          <a:xfrm>
            <a:off x="444575" y="1306275"/>
            <a:ext cx="3980400" cy="861900"/>
          </a:xfrm>
          <a:prstGeom prst="rect">
            <a:avLst/>
          </a:prstGeom>
          <a:solidFill>
            <a:srgbClr val="F3F3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800000"/>
                </a:solidFill>
                <a:highlight>
                  <a:srgbClr val="FFFFFF"/>
                </a:highlight>
              </a:rPr>
              <a:t>def</a:t>
            </a:r>
            <a:r>
              <a:rPr lang="en" sz="1100">
                <a:highlight>
                  <a:srgbClr val="FFFFFF"/>
                </a:highlight>
              </a:rPr>
              <a:t> grad_w1</a:t>
            </a:r>
            <a:r>
              <a:rPr lang="en" sz="1100">
                <a:solidFill>
                  <a:srgbClr val="808030"/>
                </a:solidFill>
                <a:highlight>
                  <a:srgbClr val="FFFFFF"/>
                </a:highlight>
              </a:rPr>
              <a:t>(</a:t>
            </a:r>
            <a:r>
              <a:rPr lang="en" sz="1100">
                <a:highlight>
                  <a:srgbClr val="FFFFFF"/>
                </a:highlight>
              </a:rPr>
              <a:t>w1</a:t>
            </a:r>
            <a:r>
              <a:rPr lang="en" sz="1100">
                <a:solidFill>
                  <a:srgbClr val="808030"/>
                </a:solidFill>
                <a:highlight>
                  <a:srgbClr val="FFFFFF"/>
                </a:highlight>
              </a:rPr>
              <a:t>,</a:t>
            </a:r>
            <a:r>
              <a:rPr lang="en" sz="1100">
                <a:highlight>
                  <a:srgbClr val="FFFFFF"/>
                </a:highlight>
              </a:rPr>
              <a:t>w0</a:t>
            </a:r>
            <a:r>
              <a:rPr lang="en" sz="1100">
                <a:solidFill>
                  <a:srgbClr val="808030"/>
                </a:solidFill>
                <a:highlight>
                  <a:srgbClr val="FFFFFF"/>
                </a:highlight>
              </a:rPr>
              <a:t>,</a:t>
            </a:r>
            <a:r>
              <a:rPr lang="en" sz="1100">
                <a:highlight>
                  <a:srgbClr val="FFFFFF"/>
                </a:highlight>
              </a:rPr>
              <a:t>x</a:t>
            </a:r>
            <a:r>
              <a:rPr lang="en" sz="1100">
                <a:solidFill>
                  <a:srgbClr val="808030"/>
                </a:solidFill>
                <a:highlight>
                  <a:srgbClr val="FFFFFF"/>
                </a:highlight>
              </a:rPr>
              <a:t>,</a:t>
            </a:r>
            <a:r>
              <a:rPr lang="en" sz="1100">
                <a:highlight>
                  <a:srgbClr val="FFFFFF"/>
                </a:highlight>
              </a:rPr>
              <a:t>y</a:t>
            </a:r>
            <a:r>
              <a:rPr lang="en" sz="1100">
                <a:solidFill>
                  <a:srgbClr val="808030"/>
                </a:solidFill>
                <a:highlight>
                  <a:srgbClr val="FFFFFF"/>
                </a:highlight>
              </a:rPr>
              <a:t>):</a:t>
            </a:r>
            <a:endParaRPr sz="1100">
              <a:highlight>
                <a:srgbClr val="FFFFFF"/>
              </a:highlight>
            </a:endParaRPr>
          </a:p>
          <a:p>
            <a:pPr indent="0" lvl="0" marL="0" rtl="0" algn="l">
              <a:spcBef>
                <a:spcPts val="0"/>
              </a:spcBef>
              <a:spcAft>
                <a:spcPts val="0"/>
              </a:spcAft>
              <a:buNone/>
            </a:pPr>
            <a:r>
              <a:rPr lang="en" sz="1100">
                <a:highlight>
                  <a:srgbClr val="FFFFFF"/>
                </a:highlight>
              </a:rPr>
              <a:t>    </a:t>
            </a:r>
            <a:r>
              <a:rPr b="1" lang="en" sz="1100">
                <a:solidFill>
                  <a:srgbClr val="800000"/>
                </a:solidFill>
                <a:highlight>
                  <a:srgbClr val="FFFFFF"/>
                </a:highlight>
              </a:rPr>
              <a:t>return</a:t>
            </a:r>
            <a:r>
              <a:rPr lang="en" sz="1100">
                <a:highlight>
                  <a:srgbClr val="FFFFFF"/>
                </a:highlight>
              </a:rPr>
              <a:t> </a:t>
            </a:r>
            <a:r>
              <a:rPr lang="en" sz="1100">
                <a:solidFill>
                  <a:srgbClr val="44AADD"/>
                </a:solidFill>
                <a:highlight>
                  <a:srgbClr val="FFFFFF"/>
                </a:highlight>
              </a:rPr>
              <a:t>-</a:t>
            </a:r>
            <a:r>
              <a:rPr lang="en" sz="1100">
                <a:solidFill>
                  <a:srgbClr val="008C00"/>
                </a:solidFill>
                <a:highlight>
                  <a:srgbClr val="FFFFFF"/>
                </a:highlight>
              </a:rPr>
              <a:t>2</a:t>
            </a:r>
            <a:r>
              <a:rPr lang="en" sz="1100">
                <a:solidFill>
                  <a:srgbClr val="44AADD"/>
                </a:solidFill>
                <a:highlight>
                  <a:srgbClr val="FFFFFF"/>
                </a:highlight>
              </a:rPr>
              <a:t>*</a:t>
            </a:r>
            <a:r>
              <a:rPr lang="en" sz="1100">
                <a:highlight>
                  <a:srgbClr val="FFFFFF"/>
                </a:highlight>
              </a:rPr>
              <a:t>np</a:t>
            </a:r>
            <a:r>
              <a:rPr lang="en" sz="1100">
                <a:solidFill>
                  <a:srgbClr val="808030"/>
                </a:solidFill>
                <a:highlight>
                  <a:srgbClr val="FFFFFF"/>
                </a:highlight>
              </a:rPr>
              <a:t>.</a:t>
            </a:r>
            <a:r>
              <a:rPr lang="en" sz="1100">
                <a:solidFill>
                  <a:srgbClr val="400000"/>
                </a:solidFill>
                <a:highlight>
                  <a:srgbClr val="FFFFFF"/>
                </a:highlight>
              </a:rPr>
              <a:t>sum</a:t>
            </a:r>
            <a:r>
              <a:rPr lang="en" sz="1100">
                <a:solidFill>
                  <a:srgbClr val="808030"/>
                </a:solidFill>
                <a:highlight>
                  <a:srgbClr val="FFFFFF"/>
                </a:highlight>
              </a:rPr>
              <a:t>(</a:t>
            </a:r>
            <a:r>
              <a:rPr lang="en" sz="1100">
                <a:highlight>
                  <a:srgbClr val="FFFFFF"/>
                </a:highlight>
              </a:rPr>
              <a:t>np</a:t>
            </a:r>
            <a:r>
              <a:rPr lang="en" sz="1100">
                <a:solidFill>
                  <a:srgbClr val="808030"/>
                </a:solidFill>
                <a:highlight>
                  <a:srgbClr val="FFFFFF"/>
                </a:highlight>
              </a:rPr>
              <a:t>.</a:t>
            </a:r>
            <a:r>
              <a:rPr lang="en" sz="1100">
                <a:highlight>
                  <a:srgbClr val="FFFFFF"/>
                </a:highlight>
              </a:rPr>
              <a:t>multiply</a:t>
            </a:r>
            <a:r>
              <a:rPr lang="en" sz="1100">
                <a:solidFill>
                  <a:srgbClr val="808030"/>
                </a:solidFill>
                <a:highlight>
                  <a:srgbClr val="FFFFFF"/>
                </a:highlight>
              </a:rPr>
              <a:t>(</a:t>
            </a:r>
            <a:r>
              <a:rPr lang="en" sz="1100">
                <a:highlight>
                  <a:srgbClr val="FFFFFF"/>
                </a:highlight>
              </a:rPr>
              <a:t>x</a:t>
            </a:r>
            <a:r>
              <a:rPr lang="en" sz="1100">
                <a:solidFill>
                  <a:srgbClr val="808030"/>
                </a:solidFill>
                <a:highlight>
                  <a:srgbClr val="FFFFFF"/>
                </a:highlight>
              </a:rPr>
              <a:t>,(</a:t>
            </a:r>
            <a:r>
              <a:rPr lang="en" sz="1100">
                <a:highlight>
                  <a:srgbClr val="FFFFFF"/>
                </a:highlight>
              </a:rPr>
              <a:t>y </a:t>
            </a:r>
            <a:r>
              <a:rPr lang="en" sz="1100">
                <a:solidFill>
                  <a:srgbClr val="44AADD"/>
                </a:solidFill>
                <a:highlight>
                  <a:srgbClr val="FFFFFF"/>
                </a:highlight>
              </a:rPr>
              <a:t>-</a:t>
            </a:r>
            <a:r>
              <a:rPr lang="en" sz="1100">
                <a:highlight>
                  <a:srgbClr val="FFFFFF"/>
                </a:highlight>
              </a:rPr>
              <a:t> </a:t>
            </a:r>
            <a:r>
              <a:rPr lang="en" sz="1100">
                <a:solidFill>
                  <a:srgbClr val="808030"/>
                </a:solidFill>
                <a:highlight>
                  <a:srgbClr val="FFFFFF"/>
                </a:highlight>
              </a:rPr>
              <a:t>(</a:t>
            </a:r>
            <a:r>
              <a:rPr lang="en" sz="1100">
                <a:highlight>
                  <a:srgbClr val="FFFFFF"/>
                </a:highlight>
              </a:rPr>
              <a:t>w1</a:t>
            </a:r>
            <a:r>
              <a:rPr lang="en" sz="1100">
                <a:solidFill>
                  <a:srgbClr val="44AADD"/>
                </a:solidFill>
                <a:highlight>
                  <a:srgbClr val="FFFFFF"/>
                </a:highlight>
              </a:rPr>
              <a:t>*</a:t>
            </a:r>
            <a:r>
              <a:rPr lang="en" sz="1100">
                <a:highlight>
                  <a:srgbClr val="FFFFFF"/>
                </a:highlight>
              </a:rPr>
              <a:t>x </a:t>
            </a:r>
            <a:r>
              <a:rPr lang="en" sz="1100">
                <a:solidFill>
                  <a:srgbClr val="44AADD"/>
                </a:solidFill>
                <a:highlight>
                  <a:srgbClr val="FFFFFF"/>
                </a:highlight>
              </a:rPr>
              <a:t>+</a:t>
            </a:r>
            <a:r>
              <a:rPr lang="en" sz="1100">
                <a:highlight>
                  <a:srgbClr val="FFFFFF"/>
                </a:highlight>
              </a:rPr>
              <a:t> w0</a:t>
            </a:r>
            <a:r>
              <a:rPr lang="en" sz="1100">
                <a:solidFill>
                  <a:srgbClr val="808030"/>
                </a:solidFill>
                <a:highlight>
                  <a:srgbClr val="FFFFFF"/>
                </a:highlight>
              </a:rPr>
              <a:t>))))</a:t>
            </a:r>
            <a:endParaRPr sz="1100">
              <a:highlight>
                <a:srgbClr val="FFFFFF"/>
              </a:highlight>
            </a:endParaRPr>
          </a:p>
          <a:p>
            <a:pPr indent="0" lvl="0" marL="0" rtl="0" algn="l">
              <a:spcBef>
                <a:spcPts val="0"/>
              </a:spcBef>
              <a:spcAft>
                <a:spcPts val="0"/>
              </a:spcAft>
              <a:buNone/>
            </a:pPr>
            <a:r>
              <a:rPr b="1" lang="en" sz="1100">
                <a:solidFill>
                  <a:srgbClr val="800000"/>
                </a:solidFill>
                <a:highlight>
                  <a:srgbClr val="FFFFFF"/>
                </a:highlight>
              </a:rPr>
              <a:t>def</a:t>
            </a:r>
            <a:r>
              <a:rPr lang="en" sz="1100">
                <a:highlight>
                  <a:srgbClr val="FFFFFF"/>
                </a:highlight>
              </a:rPr>
              <a:t> grad_w0</a:t>
            </a:r>
            <a:r>
              <a:rPr lang="en" sz="1100">
                <a:solidFill>
                  <a:srgbClr val="808030"/>
                </a:solidFill>
                <a:highlight>
                  <a:srgbClr val="FFFFFF"/>
                </a:highlight>
              </a:rPr>
              <a:t>(</a:t>
            </a:r>
            <a:r>
              <a:rPr lang="en" sz="1100">
                <a:highlight>
                  <a:srgbClr val="FFFFFF"/>
                </a:highlight>
              </a:rPr>
              <a:t>w1</a:t>
            </a:r>
            <a:r>
              <a:rPr lang="en" sz="1100">
                <a:solidFill>
                  <a:srgbClr val="808030"/>
                </a:solidFill>
                <a:highlight>
                  <a:srgbClr val="FFFFFF"/>
                </a:highlight>
              </a:rPr>
              <a:t>,</a:t>
            </a:r>
            <a:r>
              <a:rPr lang="en" sz="1100">
                <a:highlight>
                  <a:srgbClr val="FFFFFF"/>
                </a:highlight>
              </a:rPr>
              <a:t>w0</a:t>
            </a:r>
            <a:r>
              <a:rPr lang="en" sz="1100">
                <a:solidFill>
                  <a:srgbClr val="808030"/>
                </a:solidFill>
                <a:highlight>
                  <a:srgbClr val="FFFFFF"/>
                </a:highlight>
              </a:rPr>
              <a:t>,</a:t>
            </a:r>
            <a:r>
              <a:rPr lang="en" sz="1100">
                <a:highlight>
                  <a:srgbClr val="FFFFFF"/>
                </a:highlight>
              </a:rPr>
              <a:t>x</a:t>
            </a:r>
            <a:r>
              <a:rPr lang="en" sz="1100">
                <a:solidFill>
                  <a:srgbClr val="808030"/>
                </a:solidFill>
                <a:highlight>
                  <a:srgbClr val="FFFFFF"/>
                </a:highlight>
              </a:rPr>
              <a:t>,</a:t>
            </a:r>
            <a:r>
              <a:rPr lang="en" sz="1100">
                <a:highlight>
                  <a:srgbClr val="FFFFFF"/>
                </a:highlight>
              </a:rPr>
              <a:t>y</a:t>
            </a:r>
            <a:r>
              <a:rPr lang="en" sz="1100">
                <a:solidFill>
                  <a:srgbClr val="808030"/>
                </a:solidFill>
                <a:highlight>
                  <a:srgbClr val="FFFFFF"/>
                </a:highlight>
              </a:rPr>
              <a:t>):</a:t>
            </a:r>
            <a:endParaRPr sz="1100">
              <a:highlight>
                <a:srgbClr val="FFFFFF"/>
              </a:highlight>
            </a:endParaRPr>
          </a:p>
          <a:p>
            <a:pPr indent="0" lvl="0" marL="0" rtl="0" algn="l">
              <a:spcBef>
                <a:spcPts val="0"/>
              </a:spcBef>
              <a:spcAft>
                <a:spcPts val="0"/>
              </a:spcAft>
              <a:buNone/>
            </a:pPr>
            <a:r>
              <a:rPr lang="en" sz="1100">
                <a:highlight>
                  <a:srgbClr val="FFFFFF"/>
                </a:highlight>
              </a:rPr>
              <a:t>    </a:t>
            </a:r>
            <a:r>
              <a:rPr b="1" lang="en" sz="1100">
                <a:solidFill>
                  <a:srgbClr val="800000"/>
                </a:solidFill>
                <a:highlight>
                  <a:srgbClr val="FFFFFF"/>
                </a:highlight>
              </a:rPr>
              <a:t>return</a:t>
            </a:r>
            <a:r>
              <a:rPr lang="en" sz="1100">
                <a:highlight>
                  <a:srgbClr val="FFFFFF"/>
                </a:highlight>
              </a:rPr>
              <a:t> </a:t>
            </a:r>
            <a:r>
              <a:rPr lang="en" sz="1100">
                <a:solidFill>
                  <a:srgbClr val="44AADD"/>
                </a:solidFill>
                <a:highlight>
                  <a:srgbClr val="FFFFFF"/>
                </a:highlight>
              </a:rPr>
              <a:t>-</a:t>
            </a:r>
            <a:r>
              <a:rPr lang="en" sz="1100">
                <a:solidFill>
                  <a:srgbClr val="008C00"/>
                </a:solidFill>
                <a:highlight>
                  <a:srgbClr val="FFFFFF"/>
                </a:highlight>
              </a:rPr>
              <a:t>2</a:t>
            </a:r>
            <a:r>
              <a:rPr lang="en" sz="1100">
                <a:solidFill>
                  <a:srgbClr val="44AADD"/>
                </a:solidFill>
                <a:highlight>
                  <a:srgbClr val="FFFFFF"/>
                </a:highlight>
              </a:rPr>
              <a:t>*</a:t>
            </a:r>
            <a:r>
              <a:rPr lang="en" sz="1100">
                <a:highlight>
                  <a:srgbClr val="FFFFFF"/>
                </a:highlight>
              </a:rPr>
              <a:t>np</a:t>
            </a:r>
            <a:r>
              <a:rPr lang="en" sz="1100">
                <a:solidFill>
                  <a:srgbClr val="808030"/>
                </a:solidFill>
                <a:highlight>
                  <a:srgbClr val="FFFFFF"/>
                </a:highlight>
              </a:rPr>
              <a:t>.</a:t>
            </a:r>
            <a:r>
              <a:rPr lang="en" sz="1100">
                <a:solidFill>
                  <a:srgbClr val="400000"/>
                </a:solidFill>
                <a:highlight>
                  <a:srgbClr val="FFFFFF"/>
                </a:highlight>
              </a:rPr>
              <a:t>sum</a:t>
            </a:r>
            <a:r>
              <a:rPr lang="en" sz="1100">
                <a:solidFill>
                  <a:srgbClr val="808030"/>
                </a:solidFill>
                <a:highlight>
                  <a:srgbClr val="FFFFFF"/>
                </a:highlight>
              </a:rPr>
              <a:t>(</a:t>
            </a:r>
            <a:r>
              <a:rPr lang="en" sz="1100">
                <a:highlight>
                  <a:srgbClr val="FFFFFF"/>
                </a:highlight>
              </a:rPr>
              <a:t>y </a:t>
            </a:r>
            <a:r>
              <a:rPr lang="en" sz="1100">
                <a:solidFill>
                  <a:srgbClr val="44AADD"/>
                </a:solidFill>
                <a:highlight>
                  <a:srgbClr val="FFFFFF"/>
                </a:highlight>
              </a:rPr>
              <a:t>-</a:t>
            </a:r>
            <a:r>
              <a:rPr lang="en" sz="1100">
                <a:highlight>
                  <a:srgbClr val="FFFFFF"/>
                </a:highlight>
              </a:rPr>
              <a:t> </a:t>
            </a:r>
            <a:r>
              <a:rPr lang="en" sz="1100">
                <a:solidFill>
                  <a:srgbClr val="808030"/>
                </a:solidFill>
                <a:highlight>
                  <a:srgbClr val="FFFFFF"/>
                </a:highlight>
              </a:rPr>
              <a:t>(</a:t>
            </a:r>
            <a:r>
              <a:rPr lang="en" sz="1100">
                <a:highlight>
                  <a:srgbClr val="FFFFFF"/>
                </a:highlight>
              </a:rPr>
              <a:t>w1</a:t>
            </a:r>
            <a:r>
              <a:rPr lang="en" sz="1100">
                <a:solidFill>
                  <a:srgbClr val="44AADD"/>
                </a:solidFill>
                <a:highlight>
                  <a:srgbClr val="FFFFFF"/>
                </a:highlight>
              </a:rPr>
              <a:t>*</a:t>
            </a:r>
            <a:r>
              <a:rPr lang="en" sz="1100">
                <a:highlight>
                  <a:srgbClr val="FFFFFF"/>
                </a:highlight>
              </a:rPr>
              <a:t>x </a:t>
            </a:r>
            <a:r>
              <a:rPr lang="en" sz="1100">
                <a:solidFill>
                  <a:srgbClr val="44AADD"/>
                </a:solidFill>
                <a:highlight>
                  <a:srgbClr val="FFFFFF"/>
                </a:highlight>
              </a:rPr>
              <a:t>+</a:t>
            </a:r>
            <a:r>
              <a:rPr lang="en" sz="1100">
                <a:highlight>
                  <a:srgbClr val="FFFFFF"/>
                </a:highlight>
              </a:rPr>
              <a:t> w0</a:t>
            </a:r>
            <a:r>
              <a:rPr lang="en" sz="1100">
                <a:solidFill>
                  <a:srgbClr val="808030"/>
                </a:solidFill>
                <a:highlight>
                  <a:srgbClr val="FFFFFF"/>
                </a:highlight>
              </a:rPr>
              <a:t>))</a:t>
            </a:r>
            <a:endParaRPr sz="1100">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Stochastic Gradient Descent</a:t>
            </a:r>
            <a:endParaRPr sz="2400"/>
          </a:p>
        </p:txBody>
      </p:sp>
      <p:sp>
        <p:nvSpPr>
          <p:cNvPr id="121" name="Google Shape;121;p27"/>
          <p:cNvSpPr txBox="1"/>
          <p:nvPr>
            <p:ph idx="1" type="body"/>
          </p:nvPr>
        </p:nvSpPr>
        <p:spPr>
          <a:xfrm>
            <a:off x="311700" y="1396375"/>
            <a:ext cx="8520600" cy="317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Thay vì lấy đạo hàm trên tất cả các điểm dữ liệu thì chúng ta chỉ cần tính trên </a:t>
            </a:r>
            <a:r>
              <a:rPr b="1" lang="en" sz="1400">
                <a:solidFill>
                  <a:srgbClr val="980000"/>
                </a:solidFill>
              </a:rPr>
              <a:t>1 điểm ngẫu nhiên</a:t>
            </a:r>
            <a:r>
              <a:rPr lang="en" sz="1400"/>
              <a:t>. Và </a:t>
            </a:r>
            <a:r>
              <a:rPr lang="en" sz="1400"/>
              <a:t>Stochastic</a:t>
            </a:r>
            <a:r>
              <a:rPr lang="en" sz="1400"/>
              <a:t> nghĩa là ngẫu nhiên. </a:t>
            </a:r>
            <a:endParaRPr sz="1400"/>
          </a:p>
          <a:p>
            <a:pPr indent="0" lvl="0" marL="0" rtl="0" algn="l">
              <a:spcBef>
                <a:spcPts val="1600"/>
              </a:spcBef>
              <a:spcAft>
                <a:spcPts val="0"/>
              </a:spcAft>
              <a:buNone/>
            </a:pPr>
            <a:r>
              <a:rPr lang="en" sz="1400"/>
              <a:t>Stochastic Gradient Descent (SGD) lấy 1 điểm dữ liệu từ tập data để tính giá trị của đạo hàm ở mỗi vòng lặp.</a:t>
            </a:r>
            <a:endParaRPr sz="1400"/>
          </a:p>
          <a:p>
            <a:pPr indent="0" lvl="0" marL="0" rtl="0" algn="l">
              <a:spcBef>
                <a:spcPts val="1600"/>
              </a:spcBef>
              <a:spcAft>
                <a:spcPts val="0"/>
              </a:spcAft>
              <a:buNone/>
            </a:pPr>
            <a:r>
              <a:rPr lang="en" sz="1400"/>
              <a:t>Vì lấy 1 điểm dữ liệu nên thời gian tính đạo hàm trên toàn tập dữ liệu sẽ rất lâu. Do đó, chúng ta lấy</a:t>
            </a:r>
            <a:r>
              <a:rPr i="1" lang="en" sz="1400"/>
              <a:t> </a:t>
            </a:r>
            <a:r>
              <a:rPr b="1" i="1" lang="en" sz="1400">
                <a:solidFill>
                  <a:srgbClr val="980000"/>
                </a:solidFill>
              </a:rPr>
              <a:t>N</a:t>
            </a:r>
            <a:r>
              <a:rPr b="1" lang="en" sz="1400">
                <a:solidFill>
                  <a:srgbClr val="980000"/>
                </a:solidFill>
              </a:rPr>
              <a:t> điểm dữ liệu, và </a:t>
            </a:r>
            <a:r>
              <a:rPr b="1" i="1" lang="en" sz="1400">
                <a:solidFill>
                  <a:srgbClr val="980000"/>
                </a:solidFill>
              </a:rPr>
              <a:t>N</a:t>
            </a:r>
            <a:r>
              <a:rPr b="1" lang="en" sz="1400">
                <a:solidFill>
                  <a:srgbClr val="980000"/>
                </a:solidFill>
              </a:rPr>
              <a:t> này thường là số nhỏ</a:t>
            </a:r>
            <a:r>
              <a:rPr lang="en" sz="1400"/>
              <a:t>. Và </a:t>
            </a:r>
            <a:r>
              <a:rPr i="1" lang="en" sz="1400"/>
              <a:t>N</a:t>
            </a:r>
            <a:r>
              <a:rPr lang="en" sz="1400"/>
              <a:t> được gọi là batch size. </a:t>
            </a:r>
            <a:endParaRPr sz="1400"/>
          </a:p>
          <a:p>
            <a:pPr indent="0" lvl="0" marL="0" rtl="0" algn="l">
              <a:spcBef>
                <a:spcPts val="1600"/>
              </a:spcBef>
              <a:spcAft>
                <a:spcPts val="1600"/>
              </a:spcAft>
              <a:buNone/>
            </a:pPr>
            <a:r>
              <a:rPr lang="en" sz="1400"/>
              <a:t>Phương pháp lấy </a:t>
            </a:r>
            <a:r>
              <a:rPr i="1" lang="en" sz="1400"/>
              <a:t>N</a:t>
            </a:r>
            <a:r>
              <a:rPr lang="en" sz="1400"/>
              <a:t> điểm dữ liệu gọi là “mini-batch” gradient descent. Mini-batch sẽ cân bằng giữa sức mạnh của gradient descent và tốc độ của SGD.</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Biến đổi data</a:t>
            </a:r>
            <a:endParaRPr sz="2400"/>
          </a:p>
        </p:txBody>
      </p:sp>
      <p:sp>
        <p:nvSpPr>
          <p:cNvPr id="127" name="Google Shape;127;p28"/>
          <p:cNvSpPr txBox="1"/>
          <p:nvPr>
            <p:ph idx="1" type="body"/>
          </p:nvPr>
        </p:nvSpPr>
        <p:spPr>
          <a:xfrm>
            <a:off x="311700" y="1396375"/>
            <a:ext cx="8520600" cy="6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Như ở bài tập trước, việc tính đạo hàm có thể gặp những lỗi số học không mong muốn, do giá trị của những điểm dữ liệu là lớn. Cho nên chúng ta phải biến đổi giá trị của điểm dữ liệu về 1 khoảng cố định.</a:t>
            </a:r>
            <a:endParaRPr sz="1400"/>
          </a:p>
          <a:p>
            <a:pPr indent="0" lvl="0" marL="0" rtl="0" algn="l">
              <a:spcBef>
                <a:spcPts val="1600"/>
              </a:spcBef>
              <a:spcAft>
                <a:spcPts val="0"/>
              </a:spcAft>
              <a:buNone/>
            </a:pPr>
            <a:r>
              <a:t/>
            </a:r>
            <a:endParaRPr sz="1400"/>
          </a:p>
          <a:p>
            <a:pPr indent="0" lvl="0" marL="0" rtl="0" algn="l">
              <a:spcBef>
                <a:spcPts val="1600"/>
              </a:spcBef>
              <a:spcAft>
                <a:spcPts val="0"/>
              </a:spcAft>
              <a:buNone/>
            </a:pPr>
            <a:r>
              <a:t/>
            </a:r>
            <a:endParaRPr sz="1400"/>
          </a:p>
          <a:p>
            <a:pPr indent="0" lvl="0" marL="0" rtl="0" algn="l">
              <a:spcBef>
                <a:spcPts val="1600"/>
              </a:spcBef>
              <a:spcAft>
                <a:spcPts val="0"/>
              </a:spcAft>
              <a:buNone/>
            </a:pPr>
            <a:r>
              <a:rPr lang="en" sz="1400"/>
              <a:t>Nếu khoảng cố định đó là [0, 1] thì công thức được viết như sau:</a:t>
            </a:r>
            <a:endParaRPr sz="1400"/>
          </a:p>
          <a:p>
            <a:pPr indent="0" lvl="0" marL="0" rtl="0" algn="l">
              <a:spcBef>
                <a:spcPts val="1600"/>
              </a:spcBef>
              <a:spcAft>
                <a:spcPts val="1600"/>
              </a:spcAft>
              <a:buNone/>
            </a:pPr>
            <a:r>
              <a:t/>
            </a:r>
            <a:endParaRPr sz="1400"/>
          </a:p>
        </p:txBody>
      </p:sp>
      <p:sp>
        <p:nvSpPr>
          <p:cNvPr id="128" name="Google Shape;128;p28"/>
          <p:cNvSpPr txBox="1"/>
          <p:nvPr/>
        </p:nvSpPr>
        <p:spPr>
          <a:xfrm>
            <a:off x="2034450" y="2072142"/>
            <a:ext cx="5075100" cy="879600"/>
          </a:xfrm>
          <a:prstGeom prst="rect">
            <a:avLst/>
          </a:prstGeom>
          <a:noFill/>
          <a:ln cap="flat" cmpd="sng" w="9525">
            <a:solidFill>
              <a:srgbClr val="CCCCC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212529"/>
                </a:solidFill>
                <a:highlight>
                  <a:srgbClr val="FFF2CC"/>
                </a:highlight>
                <a:latin typeface="Courier New"/>
                <a:ea typeface="Courier New"/>
                <a:cs typeface="Courier New"/>
                <a:sym typeface="Courier New"/>
              </a:rPr>
              <a:t>X_std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min(axis</a:t>
            </a:r>
            <a:r>
              <a:rPr lang="en" sz="1050">
                <a:solidFill>
                  <a:srgbClr val="666666"/>
                </a:solidFill>
                <a:highlight>
                  <a:srgbClr val="FFF2CC"/>
                </a:highlight>
                <a:latin typeface="Courier New"/>
                <a:ea typeface="Courier New"/>
                <a:cs typeface="Courier New"/>
                <a:sym typeface="Courier New"/>
              </a:rPr>
              <a:t>=</a:t>
            </a:r>
            <a:r>
              <a:rPr lang="en" sz="1050">
                <a:solidFill>
                  <a:srgbClr val="208050"/>
                </a:solidFill>
                <a:highlight>
                  <a:srgbClr val="FFF2CC"/>
                </a:highlight>
                <a:latin typeface="Courier New"/>
                <a:ea typeface="Courier New"/>
                <a:cs typeface="Courier New"/>
                <a:sym typeface="Courier New"/>
              </a:rPr>
              <a:t>0</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max(axis</a:t>
            </a:r>
            <a:r>
              <a:rPr lang="en" sz="1050">
                <a:solidFill>
                  <a:srgbClr val="666666"/>
                </a:solidFill>
                <a:highlight>
                  <a:srgbClr val="FFF2CC"/>
                </a:highlight>
                <a:latin typeface="Courier New"/>
                <a:ea typeface="Courier New"/>
                <a:cs typeface="Courier New"/>
                <a:sym typeface="Courier New"/>
              </a:rPr>
              <a:t>=</a:t>
            </a:r>
            <a:r>
              <a:rPr lang="en" sz="1050">
                <a:solidFill>
                  <a:srgbClr val="208050"/>
                </a:solidFill>
                <a:highlight>
                  <a:srgbClr val="FFF2CC"/>
                </a:highlight>
                <a:latin typeface="Courier New"/>
                <a:ea typeface="Courier New"/>
                <a:cs typeface="Courier New"/>
                <a:sym typeface="Courier New"/>
              </a:rPr>
              <a:t>0</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min(axis</a:t>
            </a:r>
            <a:r>
              <a:rPr lang="en" sz="1050">
                <a:solidFill>
                  <a:srgbClr val="666666"/>
                </a:solidFill>
                <a:highlight>
                  <a:srgbClr val="FFF2CC"/>
                </a:highlight>
                <a:latin typeface="Courier New"/>
                <a:ea typeface="Courier New"/>
                <a:cs typeface="Courier New"/>
                <a:sym typeface="Courier New"/>
              </a:rPr>
              <a:t>=</a:t>
            </a:r>
            <a:r>
              <a:rPr lang="en" sz="1050">
                <a:solidFill>
                  <a:srgbClr val="208050"/>
                </a:solidFill>
                <a:highlight>
                  <a:srgbClr val="FFF2CC"/>
                </a:highlight>
                <a:latin typeface="Courier New"/>
                <a:ea typeface="Courier New"/>
                <a:cs typeface="Courier New"/>
                <a:sym typeface="Courier New"/>
              </a:rPr>
              <a:t>0</a:t>
            </a:r>
            <a:r>
              <a:rPr lang="en" sz="1050">
                <a:solidFill>
                  <a:srgbClr val="212529"/>
                </a:solidFill>
                <a:highlight>
                  <a:srgbClr val="FFF2CC"/>
                </a:highlight>
                <a:latin typeface="Courier New"/>
                <a:ea typeface="Courier New"/>
                <a:cs typeface="Courier New"/>
                <a:sym typeface="Courier New"/>
              </a:rPr>
              <a:t>))</a:t>
            </a:r>
            <a:endParaRPr sz="1050">
              <a:solidFill>
                <a:srgbClr val="212529"/>
              </a:solidFill>
              <a:highlight>
                <a:srgbClr val="FFF2C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050">
                <a:solidFill>
                  <a:srgbClr val="212529"/>
                </a:solidFill>
                <a:highlight>
                  <a:srgbClr val="FFF2CC"/>
                </a:highlight>
                <a:latin typeface="Courier New"/>
                <a:ea typeface="Courier New"/>
                <a:cs typeface="Courier New"/>
                <a:sym typeface="Courier New"/>
              </a:rPr>
              <a:t>X_scaled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X_std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a:t>
            </a:r>
            <a:r>
              <a:rPr lang="en" sz="1050">
                <a:solidFill>
                  <a:srgbClr val="007020"/>
                </a:solidFill>
                <a:highlight>
                  <a:srgbClr val="FFF2CC"/>
                </a:highlight>
                <a:latin typeface="Courier New"/>
                <a:ea typeface="Courier New"/>
                <a:cs typeface="Courier New"/>
                <a:sym typeface="Courier New"/>
              </a:rPr>
              <a:t>max</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a:t>
            </a:r>
            <a:r>
              <a:rPr lang="en" sz="1050">
                <a:solidFill>
                  <a:srgbClr val="007020"/>
                </a:solidFill>
                <a:highlight>
                  <a:srgbClr val="FFF2CC"/>
                </a:highlight>
                <a:latin typeface="Courier New"/>
                <a:ea typeface="Courier New"/>
                <a:cs typeface="Courier New"/>
                <a:sym typeface="Courier New"/>
              </a:rPr>
              <a:t>min</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a:t>
            </a:r>
            <a:r>
              <a:rPr lang="en" sz="1050">
                <a:solidFill>
                  <a:srgbClr val="007020"/>
                </a:solidFill>
                <a:highlight>
                  <a:srgbClr val="FFF2CC"/>
                </a:highlight>
                <a:latin typeface="Courier New"/>
                <a:ea typeface="Courier New"/>
                <a:cs typeface="Courier New"/>
                <a:sym typeface="Courier New"/>
              </a:rPr>
              <a:t>min</a:t>
            </a:r>
            <a:endParaRPr sz="1050">
              <a:solidFill>
                <a:srgbClr val="007020"/>
              </a:solidFill>
              <a:highlight>
                <a:srgbClr val="FFF2CC"/>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050">
              <a:solidFill>
                <a:srgbClr val="007020"/>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050">
                <a:solidFill>
                  <a:schemeClr val="dk1"/>
                </a:solidFill>
                <a:latin typeface="Proxima Nova"/>
                <a:ea typeface="Proxima Nova"/>
                <a:cs typeface="Proxima Nova"/>
                <a:sym typeface="Proxima Nova"/>
              </a:rPr>
              <a:t>Trong đó max, min là khoảng giá trị</a:t>
            </a:r>
            <a:endParaRPr sz="1050">
              <a:solidFill>
                <a:schemeClr val="dk1"/>
              </a:solidFill>
              <a:latin typeface="Proxima Nova"/>
              <a:ea typeface="Proxima Nova"/>
              <a:cs typeface="Proxima Nova"/>
              <a:sym typeface="Proxima Nova"/>
            </a:endParaRPr>
          </a:p>
        </p:txBody>
      </p:sp>
      <p:sp>
        <p:nvSpPr>
          <p:cNvPr id="129" name="Google Shape;129;p28"/>
          <p:cNvSpPr txBox="1"/>
          <p:nvPr/>
        </p:nvSpPr>
        <p:spPr>
          <a:xfrm>
            <a:off x="1847000" y="3377975"/>
            <a:ext cx="5347500" cy="346200"/>
          </a:xfrm>
          <a:prstGeom prst="rect">
            <a:avLst/>
          </a:prstGeom>
          <a:noFill/>
          <a:ln cap="flat" cmpd="sng" w="9525">
            <a:solidFill>
              <a:srgbClr val="CCCCC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212529"/>
                </a:solidFill>
                <a:highlight>
                  <a:srgbClr val="FFF2CC"/>
                </a:highlight>
                <a:latin typeface="Courier New"/>
                <a:ea typeface="Courier New"/>
                <a:cs typeface="Courier New"/>
                <a:sym typeface="Courier New"/>
              </a:rPr>
              <a:t>X_scaled</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min(axis</a:t>
            </a:r>
            <a:r>
              <a:rPr lang="en" sz="1050">
                <a:solidFill>
                  <a:srgbClr val="666666"/>
                </a:solidFill>
                <a:highlight>
                  <a:srgbClr val="FFF2CC"/>
                </a:highlight>
                <a:latin typeface="Courier New"/>
                <a:ea typeface="Courier New"/>
                <a:cs typeface="Courier New"/>
                <a:sym typeface="Courier New"/>
              </a:rPr>
              <a:t>=</a:t>
            </a:r>
            <a:r>
              <a:rPr lang="en" sz="1050">
                <a:solidFill>
                  <a:srgbClr val="208050"/>
                </a:solidFill>
                <a:highlight>
                  <a:srgbClr val="FFF2CC"/>
                </a:highlight>
                <a:latin typeface="Courier New"/>
                <a:ea typeface="Courier New"/>
                <a:cs typeface="Courier New"/>
                <a:sym typeface="Courier New"/>
              </a:rPr>
              <a:t>0</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max(axis</a:t>
            </a:r>
            <a:r>
              <a:rPr lang="en" sz="1050">
                <a:solidFill>
                  <a:srgbClr val="666666"/>
                </a:solidFill>
                <a:highlight>
                  <a:srgbClr val="FFF2CC"/>
                </a:highlight>
                <a:latin typeface="Courier New"/>
                <a:ea typeface="Courier New"/>
                <a:cs typeface="Courier New"/>
                <a:sym typeface="Courier New"/>
              </a:rPr>
              <a:t>=</a:t>
            </a:r>
            <a:r>
              <a:rPr lang="en" sz="1050">
                <a:solidFill>
                  <a:srgbClr val="208050"/>
                </a:solidFill>
                <a:highlight>
                  <a:srgbClr val="FFF2CC"/>
                </a:highlight>
                <a:latin typeface="Courier New"/>
                <a:ea typeface="Courier New"/>
                <a:cs typeface="Courier New"/>
                <a:sym typeface="Courier New"/>
              </a:rPr>
              <a:t>0</a:t>
            </a:r>
            <a:r>
              <a:rPr lang="en" sz="1050">
                <a:solidFill>
                  <a:srgbClr val="212529"/>
                </a:solidFill>
                <a:highlight>
                  <a:srgbClr val="FFF2CC"/>
                </a:highlight>
                <a:latin typeface="Courier New"/>
                <a:ea typeface="Courier New"/>
                <a:cs typeface="Courier New"/>
                <a:sym typeface="Courier New"/>
              </a:rPr>
              <a:t>) </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 X</a:t>
            </a:r>
            <a:r>
              <a:rPr lang="en" sz="1050">
                <a:solidFill>
                  <a:srgbClr val="666666"/>
                </a:solidFill>
                <a:highlight>
                  <a:srgbClr val="FFF2CC"/>
                </a:highlight>
                <a:latin typeface="Courier New"/>
                <a:ea typeface="Courier New"/>
                <a:cs typeface="Courier New"/>
                <a:sym typeface="Courier New"/>
              </a:rPr>
              <a:t>.</a:t>
            </a:r>
            <a:r>
              <a:rPr lang="en" sz="1050">
                <a:solidFill>
                  <a:srgbClr val="212529"/>
                </a:solidFill>
                <a:highlight>
                  <a:srgbClr val="FFF2CC"/>
                </a:highlight>
                <a:latin typeface="Courier New"/>
                <a:ea typeface="Courier New"/>
                <a:cs typeface="Courier New"/>
                <a:sym typeface="Courier New"/>
              </a:rPr>
              <a:t>min(axis</a:t>
            </a:r>
            <a:r>
              <a:rPr lang="en" sz="1050">
                <a:solidFill>
                  <a:srgbClr val="666666"/>
                </a:solidFill>
                <a:highlight>
                  <a:srgbClr val="FFF2CC"/>
                </a:highlight>
                <a:latin typeface="Courier New"/>
                <a:ea typeface="Courier New"/>
                <a:cs typeface="Courier New"/>
                <a:sym typeface="Courier New"/>
              </a:rPr>
              <a:t>=</a:t>
            </a:r>
            <a:r>
              <a:rPr lang="en" sz="1050">
                <a:solidFill>
                  <a:srgbClr val="208050"/>
                </a:solidFill>
                <a:highlight>
                  <a:srgbClr val="FFF2CC"/>
                </a:highlight>
                <a:latin typeface="Courier New"/>
                <a:ea typeface="Courier New"/>
                <a:cs typeface="Courier New"/>
                <a:sym typeface="Courier New"/>
              </a:rPr>
              <a:t>0</a:t>
            </a:r>
            <a:r>
              <a:rPr lang="en" sz="1050">
                <a:solidFill>
                  <a:srgbClr val="212529"/>
                </a:solidFill>
                <a:highlight>
                  <a:srgbClr val="FFF2CC"/>
                </a:highlight>
                <a:latin typeface="Courier New"/>
                <a:ea typeface="Courier New"/>
                <a:cs typeface="Courier New"/>
                <a:sym typeface="Courier New"/>
              </a:rPr>
              <a:t>))</a:t>
            </a:r>
            <a:endParaRPr sz="1050">
              <a:solidFill>
                <a:schemeClr val="dk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Bài tập nhóm số 6</a:t>
            </a:r>
            <a:endParaRPr sz="2400"/>
          </a:p>
        </p:txBody>
      </p:sp>
      <p:sp>
        <p:nvSpPr>
          <p:cNvPr id="135" name="Google Shape;135;p29"/>
          <p:cNvSpPr txBox="1"/>
          <p:nvPr>
            <p:ph idx="1" type="body"/>
          </p:nvPr>
        </p:nvSpPr>
        <p:spPr>
          <a:xfrm>
            <a:off x="311700" y="1318750"/>
            <a:ext cx="8520600" cy="342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Phân biệt giới tính dựa trên chiều cao và cân nặng:</a:t>
            </a:r>
            <a:endParaRPr sz="1400"/>
          </a:p>
          <a:p>
            <a:pPr indent="-317500" lvl="0" marL="457200" rtl="0" algn="l">
              <a:spcBef>
                <a:spcPts val="1600"/>
              </a:spcBef>
              <a:spcAft>
                <a:spcPts val="0"/>
              </a:spcAft>
              <a:buSzPts val="1400"/>
              <a:buAutoNum type="arabicPeriod"/>
            </a:pPr>
            <a:r>
              <a:rPr lang="en" sz="1400"/>
              <a:t>Download file tại </a:t>
            </a:r>
            <a:r>
              <a:rPr lang="en" sz="1400" u="sng">
                <a:solidFill>
                  <a:schemeClr val="hlink"/>
                </a:solidFill>
                <a:hlinkClick r:id="rId3"/>
              </a:rPr>
              <a:t>đây</a:t>
            </a:r>
            <a:r>
              <a:rPr lang="en" sz="1400"/>
              <a:t>.</a:t>
            </a:r>
            <a:endParaRPr sz="1400"/>
          </a:p>
          <a:p>
            <a:pPr indent="-317500" lvl="0" marL="457200" rtl="0" algn="l">
              <a:spcBef>
                <a:spcPts val="0"/>
              </a:spcBef>
              <a:spcAft>
                <a:spcPts val="0"/>
              </a:spcAft>
              <a:buSzPts val="1400"/>
              <a:buAutoNum type="arabicPeriod"/>
            </a:pPr>
            <a:r>
              <a:rPr lang="en" sz="1400"/>
              <a:t>Chuyển chiều cao và cân nặng về khoảng [0, 1]. (1điểm)</a:t>
            </a:r>
            <a:endParaRPr sz="1400"/>
          </a:p>
          <a:p>
            <a:pPr indent="-317500" lvl="0" marL="457200" rtl="0" algn="l">
              <a:spcBef>
                <a:spcPts val="0"/>
              </a:spcBef>
              <a:spcAft>
                <a:spcPts val="0"/>
              </a:spcAft>
              <a:buSzPts val="1400"/>
              <a:buAutoNum type="arabicPeriod"/>
            </a:pPr>
            <a:r>
              <a:rPr lang="en" sz="1400"/>
              <a:t>Chia tập dữ liệu thành 2 phần: 80% cho tập training  và 20% cho tập testing</a:t>
            </a:r>
            <a:endParaRPr sz="1400"/>
          </a:p>
          <a:p>
            <a:pPr indent="-317500" lvl="0" marL="457200" rtl="0" algn="l">
              <a:spcBef>
                <a:spcPts val="0"/>
              </a:spcBef>
              <a:spcAft>
                <a:spcPts val="0"/>
              </a:spcAft>
              <a:buSzPts val="1400"/>
              <a:buAutoNum type="arabicPeriod"/>
            </a:pPr>
            <a:r>
              <a:rPr lang="en" sz="1400"/>
              <a:t>Giải bài toán phân loại bằng thuật toán Logistic regression và thư viện sklearn. (Tập training) (2 điểm)</a:t>
            </a:r>
            <a:endParaRPr sz="1400"/>
          </a:p>
          <a:p>
            <a:pPr indent="-317500" lvl="0" marL="457200" rtl="0" algn="l">
              <a:spcBef>
                <a:spcPts val="0"/>
              </a:spcBef>
              <a:spcAft>
                <a:spcPts val="0"/>
              </a:spcAft>
              <a:buSzPts val="1400"/>
              <a:buAutoNum type="arabicPeriod"/>
            </a:pPr>
            <a:r>
              <a:rPr lang="en" sz="1400"/>
              <a:t>Giải bài toán phân loại bằng cách xây dựng thuật toán Logistic regression dùng Stochastic Gradient descent. (Tập training). (3 điểm)</a:t>
            </a:r>
            <a:endParaRPr sz="1400"/>
          </a:p>
          <a:p>
            <a:pPr indent="-317500" lvl="0" marL="457200" rtl="0" algn="l">
              <a:spcBef>
                <a:spcPts val="0"/>
              </a:spcBef>
              <a:spcAft>
                <a:spcPts val="0"/>
              </a:spcAft>
              <a:buSzPts val="1400"/>
              <a:buAutoNum type="arabicPeriod"/>
            </a:pPr>
            <a:r>
              <a:rPr lang="en" sz="1400"/>
              <a:t>Viết hàm dự đoán giới tính dùng mô hình Logistic regression đã giải bằng Stochastic Gradient descent. (1 điểm)</a:t>
            </a:r>
            <a:endParaRPr sz="1400"/>
          </a:p>
          <a:p>
            <a:pPr indent="-317500" lvl="0" marL="457200" rtl="0" algn="l">
              <a:spcBef>
                <a:spcPts val="0"/>
              </a:spcBef>
              <a:spcAft>
                <a:spcPts val="0"/>
              </a:spcAft>
              <a:buSzPts val="1400"/>
              <a:buAutoNum type="arabicPeriod"/>
            </a:pPr>
            <a:r>
              <a:rPr lang="en" sz="1400"/>
              <a:t>In ra Confusion matrix với mô hình Logistic regression đã giải bằng Sklearn, với tập testing (1 điểm).</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